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7" r:id="rId2"/>
    <p:sldId id="258" r:id="rId3"/>
    <p:sldId id="260" r:id="rId4"/>
    <p:sldId id="259" r:id="rId5"/>
    <p:sldId id="261" r:id="rId6"/>
    <p:sldId id="262" r:id="rId7"/>
  </p:sldIdLst>
  <p:sldSz cx="12160250" cy="6840538"/>
  <p:notesSz cx="6858000" cy="9144000"/>
  <p:defaultTextStyle>
    <a:defPPr>
      <a:defRPr lang="cs-CZ"/>
    </a:defPPr>
    <a:lvl1pPr marL="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1pPr>
    <a:lvl2pPr marL="452537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2pPr>
    <a:lvl3pPr marL="90507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3pPr>
    <a:lvl4pPr marL="135761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4pPr>
    <a:lvl5pPr marL="181014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5pPr>
    <a:lvl6pPr marL="226268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6pPr>
    <a:lvl7pPr marL="2715219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7pPr>
    <a:lvl8pPr marL="316775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8pPr>
    <a:lvl9pPr marL="3620292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383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2F18FF-3212-42B9-AF03-ECBFC749818C}" v="2" dt="2025-12-01T07:02:46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92" d="100"/>
          <a:sy n="92" d="100"/>
        </p:scale>
        <p:origin x="298" y="-331"/>
      </p:cViewPr>
      <p:guideLst>
        <p:guide orient="horz" pos="2154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hacek Ales" userId="2186d896-3dc5-4fe3-9bfb-1579173b529c" providerId="ADAL" clId="{1138E119-540C-449A-9AF7-75661E1BEBF7}"/>
    <pc:docChg chg="custSel modSld">
      <pc:chgData name="Machacek Ales" userId="2186d896-3dc5-4fe3-9bfb-1579173b529c" providerId="ADAL" clId="{1138E119-540C-449A-9AF7-75661E1BEBF7}" dt="2025-12-01T07:03:00.641" v="69" actId="20577"/>
      <pc:docMkLst>
        <pc:docMk/>
      </pc:docMkLst>
      <pc:sldChg chg="modSp mod">
        <pc:chgData name="Machacek Ales" userId="2186d896-3dc5-4fe3-9bfb-1579173b529c" providerId="ADAL" clId="{1138E119-540C-449A-9AF7-75661E1BEBF7}" dt="2025-12-01T07:03:00.641" v="69" actId="20577"/>
        <pc:sldMkLst>
          <pc:docMk/>
          <pc:sldMk cId="3497830595" sldId="261"/>
        </pc:sldMkLst>
        <pc:spChg chg="mod">
          <ac:chgData name="Machacek Ales" userId="2186d896-3dc5-4fe3-9bfb-1579173b529c" providerId="ADAL" clId="{1138E119-540C-449A-9AF7-75661E1BEBF7}" dt="2025-12-01T07:02:33.153" v="2" actId="1076"/>
          <ac:spMkLst>
            <pc:docMk/>
            <pc:sldMk cId="3497830595" sldId="261"/>
            <ac:spMk id="2" creationId="{5230456B-8F5C-470A-1AF4-FD53060FE86B}"/>
          </ac:spMkLst>
        </pc:spChg>
        <pc:spChg chg="mod">
          <ac:chgData name="Machacek Ales" userId="2186d896-3dc5-4fe3-9bfb-1579173b529c" providerId="ADAL" clId="{1138E119-540C-449A-9AF7-75661E1BEBF7}" dt="2025-12-01T07:03:00.641" v="69" actId="20577"/>
          <ac:spMkLst>
            <pc:docMk/>
            <pc:sldMk cId="3497830595" sldId="261"/>
            <ac:spMk id="3" creationId="{2D9C84E7-191F-1D9A-87BA-190D350122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C1901-92BB-4FDD-BA03-8B5D36861ACA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EE4EC-FC1D-4A5C-A5BA-DA124659C1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4033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7231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03529-D114-B7F3-4FD2-6DC0DE55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4A4061D-0B3D-D229-10EA-A044E5A15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8A9CB082-70EB-9FA1-B50E-BCCD8B534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FF123F9-707E-B55C-3628-97BA9AB1E8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5194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6313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0E551-8BC0-130B-F4D7-222E9007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8C8578C-7014-33EC-F2CF-A19E9AA89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7C96EB94-2CFA-3088-368A-41C4FEB79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332235C-6B40-DD3F-5E79-D998D3B16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7821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270B2-B1EE-ECC9-2967-36535C03D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E0EED8B-FA0B-676E-8625-930416B5A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E0F6867B-6B2F-445F-A438-E385BBF9F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DFC7482-6719-7568-5C60-95F30E4244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52972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9305" y="6450675"/>
            <a:ext cx="9242264" cy="216000"/>
          </a:xfrm>
        </p:spPr>
        <p:txBody>
          <a:bodyPr/>
          <a:lstStyle/>
          <a:p>
            <a:pPr algn="ctr"/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00" y="2898000"/>
            <a:ext cx="3341877" cy="103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7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870" y="1980001"/>
            <a:ext cx="10215134" cy="1612866"/>
          </a:xfrm>
        </p:spPr>
        <p:txBody>
          <a:bodyPr anchor="t">
            <a:normAutofit/>
          </a:bodyPr>
          <a:lstStyle>
            <a:lvl1pPr algn="l">
              <a:defRPr sz="3513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2870" y="3592866"/>
            <a:ext cx="10215134" cy="1552712"/>
          </a:xfrm>
        </p:spPr>
        <p:txBody>
          <a:bodyPr/>
          <a:lstStyle>
            <a:lvl1pPr marL="0" indent="0" algn="l">
              <a:buNone/>
              <a:defRPr sz="3192">
                <a:solidFill>
                  <a:schemeClr val="accent2"/>
                </a:solidFill>
              </a:defRPr>
            </a:lvl1pPr>
            <a:lvl2pPr marL="608008" indent="0" algn="ctr">
              <a:buNone/>
              <a:defRPr sz="2659"/>
            </a:lvl2pPr>
            <a:lvl3pPr marL="1216015" indent="0" algn="ctr">
              <a:buNone/>
              <a:defRPr sz="2394"/>
            </a:lvl3pPr>
            <a:lvl4pPr marL="1824024" indent="0" algn="ctr">
              <a:buNone/>
              <a:defRPr sz="2128"/>
            </a:lvl4pPr>
            <a:lvl5pPr marL="2432032" indent="0" algn="ctr">
              <a:buNone/>
              <a:defRPr sz="2128"/>
            </a:lvl5pPr>
            <a:lvl6pPr marL="3040039" indent="0" algn="ctr">
              <a:buNone/>
              <a:defRPr sz="2128"/>
            </a:lvl6pPr>
            <a:lvl7pPr marL="3648047" indent="0" algn="ctr">
              <a:buNone/>
              <a:defRPr sz="2128"/>
            </a:lvl7pPr>
            <a:lvl8pPr marL="4256056" indent="0" algn="ctr">
              <a:buNone/>
              <a:defRPr sz="2128"/>
            </a:lvl8pPr>
            <a:lvl9pPr marL="4864063" indent="0" algn="ctr">
              <a:buNone/>
              <a:defRPr sz="2128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172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870" y="4380949"/>
            <a:ext cx="10215134" cy="982528"/>
          </a:xfrm>
        </p:spPr>
        <p:txBody>
          <a:bodyPr anchor="t">
            <a:normAutofit/>
          </a:bodyPr>
          <a:lstStyle>
            <a:lvl1pPr algn="ctr">
              <a:defRPr sz="3513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2870" y="5363480"/>
            <a:ext cx="10215134" cy="945883"/>
          </a:xfrm>
        </p:spPr>
        <p:txBody>
          <a:bodyPr/>
          <a:lstStyle>
            <a:lvl1pPr marL="0" indent="0" algn="ctr">
              <a:buNone/>
              <a:defRPr sz="3192">
                <a:solidFill>
                  <a:schemeClr val="accent2"/>
                </a:solidFill>
              </a:defRPr>
            </a:lvl1pPr>
            <a:lvl2pPr marL="608008" indent="0" algn="ctr">
              <a:buNone/>
              <a:defRPr sz="2659"/>
            </a:lvl2pPr>
            <a:lvl3pPr marL="1216015" indent="0" algn="ctr">
              <a:buNone/>
              <a:defRPr sz="2394"/>
            </a:lvl3pPr>
            <a:lvl4pPr marL="1824024" indent="0" algn="ctr">
              <a:buNone/>
              <a:defRPr sz="2128"/>
            </a:lvl4pPr>
            <a:lvl5pPr marL="2432032" indent="0" algn="ctr">
              <a:buNone/>
              <a:defRPr sz="2128"/>
            </a:lvl5pPr>
            <a:lvl6pPr marL="3040039" indent="0" algn="ctr">
              <a:buNone/>
              <a:defRPr sz="2128"/>
            </a:lvl6pPr>
            <a:lvl7pPr marL="3648047" indent="0" algn="ctr">
              <a:buNone/>
              <a:defRPr sz="2128"/>
            </a:lvl7pPr>
            <a:lvl8pPr marL="4256056" indent="0" algn="ctr">
              <a:buNone/>
              <a:defRPr sz="2128"/>
            </a:lvl8pPr>
            <a:lvl9pPr marL="4864063" indent="0" algn="ctr">
              <a:buNone/>
              <a:defRPr sz="2128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9305" y="6450675"/>
            <a:ext cx="9242264" cy="216000"/>
          </a:xfrm>
        </p:spPr>
        <p:txBody>
          <a:bodyPr/>
          <a:lstStyle/>
          <a:p>
            <a:pPr algn="ctr"/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947" y="1260000"/>
            <a:ext cx="2202979" cy="182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4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534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2870" y="2462400"/>
            <a:ext cx="4895025" cy="3898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2979" y="2462400"/>
            <a:ext cx="4895025" cy="3898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238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870" y="1620000"/>
            <a:ext cx="10215134" cy="748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870" y="2368800"/>
            <a:ext cx="4893536" cy="693376"/>
          </a:xfrm>
        </p:spPr>
        <p:txBody>
          <a:bodyPr anchor="b"/>
          <a:lstStyle>
            <a:lvl1pPr marL="0" indent="0">
              <a:buNone/>
              <a:defRPr sz="3192" b="1"/>
            </a:lvl1pPr>
            <a:lvl2pPr marL="608008" indent="0">
              <a:buNone/>
              <a:defRPr sz="2659" b="1"/>
            </a:lvl2pPr>
            <a:lvl3pPr marL="1216015" indent="0">
              <a:buNone/>
              <a:defRPr sz="2394" b="1"/>
            </a:lvl3pPr>
            <a:lvl4pPr marL="1824024" indent="0">
              <a:buNone/>
              <a:defRPr sz="2128" b="1"/>
            </a:lvl4pPr>
            <a:lvl5pPr marL="2432032" indent="0">
              <a:buNone/>
              <a:defRPr sz="2128" b="1"/>
            </a:lvl5pPr>
            <a:lvl6pPr marL="3040039" indent="0">
              <a:buNone/>
              <a:defRPr sz="2128" b="1"/>
            </a:lvl6pPr>
            <a:lvl7pPr marL="3648047" indent="0">
              <a:buNone/>
              <a:defRPr sz="2128" b="1"/>
            </a:lvl7pPr>
            <a:lvl8pPr marL="4256056" indent="0">
              <a:buNone/>
              <a:defRPr sz="2128" b="1"/>
            </a:lvl8pPr>
            <a:lvl9pPr marL="4864063" indent="0">
              <a:buNone/>
              <a:defRPr sz="2128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2870" y="3151650"/>
            <a:ext cx="4893536" cy="320955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468" y="2368800"/>
            <a:ext cx="4893536" cy="693376"/>
          </a:xfrm>
        </p:spPr>
        <p:txBody>
          <a:bodyPr anchor="b"/>
          <a:lstStyle>
            <a:lvl1pPr marL="0" indent="0">
              <a:buNone/>
              <a:defRPr sz="3192" b="1"/>
            </a:lvl1pPr>
            <a:lvl2pPr marL="608008" indent="0">
              <a:buNone/>
              <a:defRPr sz="2659" b="1"/>
            </a:lvl2pPr>
            <a:lvl3pPr marL="1216015" indent="0">
              <a:buNone/>
              <a:defRPr sz="2394" b="1"/>
            </a:lvl3pPr>
            <a:lvl4pPr marL="1824024" indent="0">
              <a:buNone/>
              <a:defRPr sz="2128" b="1"/>
            </a:lvl4pPr>
            <a:lvl5pPr marL="2432032" indent="0">
              <a:buNone/>
              <a:defRPr sz="2128" b="1"/>
            </a:lvl5pPr>
            <a:lvl6pPr marL="3040039" indent="0">
              <a:buNone/>
              <a:defRPr sz="2128" b="1"/>
            </a:lvl6pPr>
            <a:lvl7pPr marL="3648047" indent="0">
              <a:buNone/>
              <a:defRPr sz="2128" b="1"/>
            </a:lvl7pPr>
            <a:lvl8pPr marL="4256056" indent="0">
              <a:buNone/>
              <a:defRPr sz="2128" b="1"/>
            </a:lvl8pPr>
            <a:lvl9pPr marL="4864063" indent="0">
              <a:buNone/>
              <a:defRPr sz="2128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468" y="3151650"/>
            <a:ext cx="4893536" cy="320955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127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247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81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870" y="1620000"/>
            <a:ext cx="4059167" cy="748800"/>
          </a:xfrm>
        </p:spPr>
        <p:txBody>
          <a:bodyPr anchor="b">
            <a:normAutofit/>
          </a:bodyPr>
          <a:lstStyle>
            <a:lvl1pPr>
              <a:defRPr sz="3513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690" y="1620000"/>
            <a:ext cx="6018314" cy="4733283"/>
          </a:xfrm>
        </p:spPr>
        <p:txBody>
          <a:bodyPr>
            <a:normAutofit/>
          </a:bodyPr>
          <a:lstStyle>
            <a:lvl1pPr>
              <a:defRPr sz="3243"/>
            </a:lvl1pPr>
            <a:lvl2pPr>
              <a:defRPr sz="2702"/>
            </a:lvl2pPr>
            <a:lvl3pPr>
              <a:defRPr sz="2432"/>
            </a:lvl3pPr>
            <a:lvl4pPr>
              <a:defRPr sz="2162"/>
            </a:lvl4pPr>
            <a:lvl5pPr>
              <a:defRPr sz="2162"/>
            </a:lvl5pPr>
            <a:lvl6pPr>
              <a:defRPr sz="2659"/>
            </a:lvl6pPr>
            <a:lvl7pPr>
              <a:defRPr sz="2659"/>
            </a:lvl7pPr>
            <a:lvl8pPr>
              <a:defRPr sz="2659"/>
            </a:lvl8pPr>
            <a:lvl9pPr>
              <a:defRPr sz="2659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2870" y="2458274"/>
            <a:ext cx="4059167" cy="3902926"/>
          </a:xfrm>
        </p:spPr>
        <p:txBody>
          <a:bodyPr/>
          <a:lstStyle>
            <a:lvl1pPr marL="0" indent="0">
              <a:buNone/>
              <a:defRPr sz="2128"/>
            </a:lvl1pPr>
            <a:lvl2pPr marL="608008" indent="0">
              <a:buNone/>
              <a:defRPr sz="1862"/>
            </a:lvl2pPr>
            <a:lvl3pPr marL="1216015" indent="0">
              <a:buNone/>
              <a:defRPr sz="1596"/>
            </a:lvl3pPr>
            <a:lvl4pPr marL="1824024" indent="0">
              <a:buNone/>
              <a:defRPr sz="1330"/>
            </a:lvl4pPr>
            <a:lvl5pPr marL="2432032" indent="0">
              <a:buNone/>
              <a:defRPr sz="1330"/>
            </a:lvl5pPr>
            <a:lvl6pPr marL="3040039" indent="0">
              <a:buNone/>
              <a:defRPr sz="1330"/>
            </a:lvl6pPr>
            <a:lvl7pPr marL="3648047" indent="0">
              <a:buNone/>
              <a:defRPr sz="1330"/>
            </a:lvl7pPr>
            <a:lvl8pPr marL="4256056" indent="0">
              <a:buNone/>
              <a:defRPr sz="1330"/>
            </a:lvl8pPr>
            <a:lvl9pPr marL="4864063" indent="0">
              <a:buNone/>
              <a:defRPr sz="133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885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2870" y="1620000"/>
            <a:ext cx="10215134" cy="74808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870" y="2460570"/>
            <a:ext cx="10215134" cy="38986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2870" y="6450675"/>
            <a:ext cx="9619119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35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73" y="6450675"/>
            <a:ext cx="427532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35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B6205-E093-439F-9685-8F7A4FC3F425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Obrázek 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2" y="540003"/>
            <a:ext cx="2560443" cy="71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3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3" r:id="rId2"/>
    <p:sldLayoutId id="2147483685" r:id="rId3"/>
    <p:sldLayoutId id="2147483674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dt="0"/>
  <p:txStyles>
    <p:titleStyle>
      <a:lvl1pPr algn="l" defTabSz="1216015" rtl="0" eaLnBrk="1" latinLnBrk="0" hangingPunct="1">
        <a:lnSpc>
          <a:spcPct val="100000"/>
        </a:lnSpc>
        <a:spcBef>
          <a:spcPct val="0"/>
        </a:spcBef>
        <a:buNone/>
        <a:defRPr sz="3513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60365" indent="-360365" algn="l" defTabSz="1216015" rtl="0" eaLnBrk="1" latinLnBrk="0" hangingPunct="1">
        <a:lnSpc>
          <a:spcPct val="100000"/>
        </a:lnSpc>
        <a:spcBef>
          <a:spcPts val="1330"/>
        </a:spcBef>
        <a:buFont typeface="Arial" panose="020B0604020202020204" pitchFamily="34" charset="0"/>
        <a:buChar char="−"/>
        <a:defRPr sz="2702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29310" indent="-368945" algn="l" defTabSz="1216015" rtl="0" eaLnBrk="1" latinLnBrk="0" hangingPunct="1">
        <a:lnSpc>
          <a:spcPct val="100000"/>
        </a:lnSpc>
        <a:spcBef>
          <a:spcPts val="665"/>
        </a:spcBef>
        <a:buFont typeface="Arial" panose="020B0604020202020204" pitchFamily="34" charset="0"/>
        <a:buChar char="−"/>
        <a:defRPr sz="2432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89675" indent="-360365" algn="l" defTabSz="1216015" rtl="0" eaLnBrk="1" latinLnBrk="0" hangingPunct="1">
        <a:lnSpc>
          <a:spcPct val="100000"/>
        </a:lnSpc>
        <a:spcBef>
          <a:spcPts val="665"/>
        </a:spcBef>
        <a:buFont typeface="Arial" panose="020B0604020202020204" pitchFamily="34" charset="0"/>
        <a:buChar char="−"/>
        <a:defRPr sz="2162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47896" indent="-358221" algn="l" defTabSz="1216015" rtl="0" eaLnBrk="1" latinLnBrk="0" hangingPunct="1">
        <a:lnSpc>
          <a:spcPct val="100000"/>
        </a:lnSpc>
        <a:spcBef>
          <a:spcPts val="665"/>
        </a:spcBef>
        <a:buFont typeface="Arial" panose="020B0604020202020204" pitchFamily="34" charset="0"/>
        <a:buChar char="−"/>
        <a:defRPr sz="1892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18985" indent="-371091" algn="l" defTabSz="1216015" rtl="0" eaLnBrk="1" latinLnBrk="0" hangingPunct="1">
        <a:lnSpc>
          <a:spcPct val="100000"/>
        </a:lnSpc>
        <a:spcBef>
          <a:spcPts val="665"/>
        </a:spcBef>
        <a:buFont typeface="Arial" panose="020B0604020202020204" pitchFamily="34" charset="0"/>
        <a:buChar char="−"/>
        <a:defRPr sz="1892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44043" indent="-304004" algn="l" defTabSz="121601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952052" indent="-304004" algn="l" defTabSz="121601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560059" indent="-304004" algn="l" defTabSz="121601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5168067" indent="-304004" algn="l" defTabSz="121601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08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015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024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032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039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047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056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063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be.edu.pl/en/data/manuals-international-assessments/idb-analyzer-e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245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72558" y="3819032"/>
            <a:ext cx="10215134" cy="982528"/>
          </a:xfrm>
        </p:spPr>
        <p:txBody>
          <a:bodyPr/>
          <a:lstStyle/>
          <a:p>
            <a:r>
              <a:rPr lang="cs-CZ" dirty="0"/>
              <a:t>Plausibilní hodnoty + IDB </a:t>
            </a:r>
            <a:r>
              <a:rPr lang="cs-CZ" dirty="0" err="1"/>
              <a:t>analyzer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972558" y="5153176"/>
            <a:ext cx="10215134" cy="945883"/>
          </a:xfrm>
        </p:spPr>
        <p:txBody>
          <a:bodyPr>
            <a:normAutofit/>
          </a:bodyPr>
          <a:lstStyle/>
          <a:p>
            <a:r>
              <a:rPr lang="cs-CZ" sz="2400" dirty="0"/>
              <a:t>Mgr. Aleš Macháček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7411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0C739-716B-20FF-44D5-28CED3D4D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AF84EB-1B97-DA44-8180-3085FC4CE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70" y="1445432"/>
            <a:ext cx="10215134" cy="748080"/>
          </a:xfrm>
        </p:spPr>
        <p:txBody>
          <a:bodyPr/>
          <a:lstStyle/>
          <a:p>
            <a:r>
              <a:rPr lang="cs-CZ" dirty="0"/>
              <a:t>Práce s </a:t>
            </a:r>
            <a:r>
              <a:rPr lang="cs-CZ" dirty="0" err="1"/>
              <a:t>datasety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6DC1C50-74EF-7E06-99D4-96125B461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870" y="2261064"/>
            <a:ext cx="10215134" cy="3898669"/>
          </a:xfrm>
        </p:spPr>
        <p:txBody>
          <a:bodyPr>
            <a:normAutofit/>
          </a:bodyPr>
          <a:lstStyle/>
          <a:p>
            <a:r>
              <a:rPr lang="cs-CZ" dirty="0"/>
              <a:t>Důležitá nejen znalost metod ale také dat se kterými pracujeme</a:t>
            </a:r>
          </a:p>
          <a:p>
            <a:pPr lvl="1"/>
            <a:r>
              <a:rPr lang="cs-CZ" b="1" dirty="0"/>
              <a:t>Není samozřejmost</a:t>
            </a:r>
            <a:r>
              <a:rPr lang="cs-CZ" dirty="0"/>
              <a:t>!</a:t>
            </a:r>
            <a:endParaRPr lang="cs-CZ" b="1" dirty="0"/>
          </a:p>
          <a:p>
            <a:r>
              <a:rPr lang="cs-CZ" dirty="0"/>
              <a:t>Potřeba vědět co jsme schopni z dat vůbec zjistit, zorientovat se ve stovkách proměnných</a:t>
            </a:r>
          </a:p>
          <a:p>
            <a:r>
              <a:rPr lang="cs-CZ" dirty="0"/>
              <a:t>Jaké proměnné jsou zajímavé pro analýzu? K jakým seženeme dostatečné zdroje? Jsou nějaká další data vhodná pro párování?</a:t>
            </a:r>
          </a:p>
          <a:p>
            <a:r>
              <a:rPr lang="cs-CZ" dirty="0"/>
              <a:t>K dispozici máme celou řadu velkých </a:t>
            </a:r>
            <a:r>
              <a:rPr lang="cs-CZ" dirty="0" err="1"/>
              <a:t>datasetů</a:t>
            </a:r>
            <a:r>
              <a:rPr lang="cs-CZ" dirty="0"/>
              <a:t> mezi které patří i mezinárodní srovnávací šetření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89D36D9-039F-B0C9-74FA-54BB67F94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7524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Mezinárodní srovnávací šetření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2 hlavní organizace – </a:t>
            </a:r>
            <a:r>
              <a:rPr lang="cs-CZ" b="1" dirty="0"/>
              <a:t>OECD a IEA</a:t>
            </a:r>
          </a:p>
          <a:p>
            <a:r>
              <a:rPr lang="cs-CZ" dirty="0"/>
              <a:t>Řada významných šetření</a:t>
            </a:r>
          </a:p>
          <a:p>
            <a:pPr lvl="1"/>
            <a:r>
              <a:rPr lang="cs-CZ" dirty="0"/>
              <a:t>PISA, TIMSS, PIRLS, ICILS a TALIS</a:t>
            </a:r>
          </a:p>
          <a:p>
            <a:r>
              <a:rPr lang="cs-CZ" dirty="0"/>
              <a:t>Dnes se zaměříme na </a:t>
            </a:r>
            <a:r>
              <a:rPr lang="cs-CZ" b="1" dirty="0"/>
              <a:t>PISA (OECD) a PIRLS (IEA)</a:t>
            </a:r>
          </a:p>
          <a:p>
            <a:pPr lvl="1"/>
            <a:r>
              <a:rPr lang="cs-CZ" dirty="0"/>
              <a:t>PISA 2022 a PIRLS 2021</a:t>
            </a:r>
          </a:p>
          <a:p>
            <a:r>
              <a:rPr lang="cs-CZ" dirty="0"/>
              <a:t>K analýze </a:t>
            </a:r>
            <a:r>
              <a:rPr lang="cs-CZ" dirty="0" err="1"/>
              <a:t>mezin</a:t>
            </a:r>
            <a:r>
              <a:rPr lang="cs-CZ" dirty="0"/>
              <a:t>. srov. šetření máme zajímavý nástroj </a:t>
            </a:r>
            <a:r>
              <a:rPr lang="cs-CZ" b="1" dirty="0"/>
              <a:t>IDB </a:t>
            </a:r>
            <a:r>
              <a:rPr lang="cs-CZ" b="1" dirty="0" err="1"/>
              <a:t>Analyzer</a:t>
            </a:r>
            <a:endParaRPr lang="cs-CZ" b="1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7501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21098-F0FC-6414-F49B-391B48AC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30456B-8F5C-470A-1AF4-FD53060FE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558" y="1404916"/>
            <a:ext cx="10215134" cy="748080"/>
          </a:xfrm>
        </p:spPr>
        <p:txBody>
          <a:bodyPr/>
          <a:lstStyle/>
          <a:p>
            <a:r>
              <a:rPr lang="cs-CZ" dirty="0"/>
              <a:t>IDB </a:t>
            </a:r>
            <a:r>
              <a:rPr lang="cs-CZ" dirty="0" err="1"/>
              <a:t>Analyzer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D9C84E7-191F-1D9A-87BA-190D35012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558" y="2094807"/>
            <a:ext cx="10215134" cy="4048301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Vytvořen organizací IEA</a:t>
            </a:r>
          </a:p>
          <a:p>
            <a:pPr lvl="1"/>
            <a:r>
              <a:rPr lang="cs-CZ" dirty="0"/>
              <a:t>Vhodný tedy hlavně na šetření produkované IEA ale použitelný i na všechny ostatní až na výjimku s </a:t>
            </a:r>
            <a:r>
              <a:rPr lang="cs-CZ" dirty="0" err="1"/>
              <a:t>merge</a:t>
            </a:r>
            <a:endParaRPr lang="cs-CZ" dirty="0"/>
          </a:p>
          <a:p>
            <a:r>
              <a:rPr lang="cs-CZ" dirty="0"/>
              <a:t>Funkce konverze ze .</a:t>
            </a:r>
            <a:r>
              <a:rPr lang="cs-CZ" dirty="0" err="1"/>
              <a:t>sav</a:t>
            </a:r>
            <a:r>
              <a:rPr lang="cs-CZ" dirty="0"/>
              <a:t> na .</a:t>
            </a:r>
            <a:r>
              <a:rPr lang="cs-CZ" dirty="0" err="1"/>
              <a:t>Rdata</a:t>
            </a:r>
            <a:endParaRPr lang="cs-CZ" dirty="0"/>
          </a:p>
          <a:p>
            <a:r>
              <a:rPr lang="cs-CZ" dirty="0"/>
              <a:t>Funkce </a:t>
            </a:r>
            <a:r>
              <a:rPr lang="cs-CZ" dirty="0" err="1"/>
              <a:t>merge</a:t>
            </a:r>
            <a:endParaRPr lang="cs-CZ" dirty="0"/>
          </a:p>
          <a:p>
            <a:pPr lvl="1"/>
            <a:r>
              <a:rPr lang="cs-CZ" dirty="0"/>
              <a:t>Funguje jen na </a:t>
            </a:r>
            <a:r>
              <a:rPr lang="cs-CZ" dirty="0" err="1"/>
              <a:t>datasety</a:t>
            </a:r>
            <a:r>
              <a:rPr lang="cs-CZ" dirty="0"/>
              <a:t> IEA, </a:t>
            </a:r>
            <a:r>
              <a:rPr lang="cs-CZ" dirty="0" err="1"/>
              <a:t>datasety</a:t>
            </a:r>
            <a:r>
              <a:rPr lang="cs-CZ" dirty="0"/>
              <a:t> OECD musíme ručně</a:t>
            </a:r>
          </a:p>
          <a:p>
            <a:r>
              <a:rPr lang="cs-CZ" dirty="0"/>
              <a:t>Funkce </a:t>
            </a:r>
            <a:r>
              <a:rPr lang="cs-CZ" dirty="0" err="1"/>
              <a:t>analysis</a:t>
            </a:r>
            <a:endParaRPr lang="cs-CZ" dirty="0"/>
          </a:p>
          <a:p>
            <a:pPr lvl="1"/>
            <a:r>
              <a:rPr lang="cs-CZ" dirty="0"/>
              <a:t>Korelace, deskripce, lineární regrese.. </a:t>
            </a:r>
          </a:p>
          <a:p>
            <a:r>
              <a:rPr lang="cs-CZ" dirty="0">
                <a:hlinkClick r:id="rId3"/>
              </a:rPr>
              <a:t>https://ibe.edu.pl/en/data/manuals-international-assessments/idb-analyzer-eng</a:t>
            </a:r>
            <a:r>
              <a:rPr lang="cs-CZ" dirty="0"/>
              <a:t> - Neoficiální ale dobře </a:t>
            </a:r>
            <a:r>
              <a:rPr lang="cs-CZ"/>
              <a:t>zpracovaný manuál</a:t>
            </a:r>
            <a:endParaRPr lang="cs-CZ" dirty="0"/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89D7396-FFBD-43F5-60DC-03D643ABB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97830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5A582-DEE6-0842-1C53-580EB5B1E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CDF355-380E-42C8-4528-315167B1B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70" y="1478684"/>
            <a:ext cx="10215134" cy="748080"/>
          </a:xfrm>
        </p:spPr>
        <p:txBody>
          <a:bodyPr/>
          <a:lstStyle/>
          <a:p>
            <a:r>
              <a:rPr lang="cs-CZ" dirty="0"/>
              <a:t>Cíl hodiny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606A002-8EE5-11D1-CB3E-F052E690D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870" y="2302628"/>
            <a:ext cx="10215134" cy="3898669"/>
          </a:xfrm>
        </p:spPr>
        <p:txBody>
          <a:bodyPr>
            <a:normAutofit/>
          </a:bodyPr>
          <a:lstStyle/>
          <a:p>
            <a:r>
              <a:rPr lang="cs-CZ" dirty="0"/>
              <a:t>1. Naučit se pracovat s nástrojem IDB </a:t>
            </a:r>
            <a:r>
              <a:rPr lang="cs-CZ" dirty="0" err="1"/>
              <a:t>analyzer</a:t>
            </a:r>
            <a:endParaRPr lang="cs-CZ" dirty="0"/>
          </a:p>
          <a:p>
            <a:pPr lvl="1"/>
            <a:r>
              <a:rPr lang="cs-CZ" dirty="0"/>
              <a:t>Funkce konverze, </a:t>
            </a:r>
            <a:r>
              <a:rPr lang="cs-CZ" dirty="0" err="1"/>
              <a:t>merge</a:t>
            </a:r>
            <a:r>
              <a:rPr lang="cs-CZ" dirty="0"/>
              <a:t> a </a:t>
            </a:r>
            <a:r>
              <a:rPr lang="cs-CZ" dirty="0" err="1"/>
              <a:t>analysis</a:t>
            </a:r>
            <a:endParaRPr lang="cs-CZ" dirty="0"/>
          </a:p>
          <a:p>
            <a:r>
              <a:rPr lang="cs-CZ" dirty="0"/>
              <a:t>2. Naučit se práci s tzv. „Plausibilními hodnotami“</a:t>
            </a:r>
          </a:p>
          <a:p>
            <a:r>
              <a:rPr lang="cs-CZ" dirty="0"/>
              <a:t>3. Naučit se vážení </a:t>
            </a:r>
            <a:r>
              <a:rPr lang="cs-CZ" dirty="0" err="1"/>
              <a:t>datasetů</a:t>
            </a:r>
            <a:r>
              <a:rPr lang="cs-CZ" dirty="0"/>
              <a:t> + hierarchická struktura dat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C645738-FC8E-ABDC-89DE-776E1FD0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3910657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U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BAB"/>
      </a:accent1>
      <a:accent2>
        <a:srgbClr val="6C6D70"/>
      </a:accent2>
      <a:accent3>
        <a:srgbClr val="A5A5A5"/>
      </a:accent3>
      <a:accent4>
        <a:srgbClr val="ED7D31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_prezentace_cz_16x9.potx" id="{193B350C-BD93-44C2-AA23-001E80B1E4DC}" vid="{080CA9D0-FE38-4C67-AC33-3149459E102F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UP_prezentace_cz_16x9 (4)</Template>
  <TotalTime>17</TotalTime>
  <Words>316</Words>
  <Application>Microsoft Office PowerPoint</Application>
  <PresentationFormat>Vlastní</PresentationFormat>
  <Paragraphs>40</Paragraphs>
  <Slides>6</Slides>
  <Notes>5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9" baseType="lpstr">
      <vt:lpstr>Arial</vt:lpstr>
      <vt:lpstr>Calibri</vt:lpstr>
      <vt:lpstr>Motiv Office</vt:lpstr>
      <vt:lpstr>Prezentace aplikace PowerPoint</vt:lpstr>
      <vt:lpstr>Plausibilní hodnoty + IDB analyzer</vt:lpstr>
      <vt:lpstr>Práce s datasety</vt:lpstr>
      <vt:lpstr>Mezinárodní srovnávací šetření</vt:lpstr>
      <vt:lpstr>IDB Analyzer</vt:lpstr>
      <vt:lpstr>Cíl hodiny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KA3</dc:creator>
  <cp:lastModifiedBy>KA3</cp:lastModifiedBy>
  <cp:revision>1</cp:revision>
  <dcterms:created xsi:type="dcterms:W3CDTF">2025-12-01T06:45:25Z</dcterms:created>
  <dcterms:modified xsi:type="dcterms:W3CDTF">2025-12-01T07:03:01Z</dcterms:modified>
</cp:coreProperties>
</file>